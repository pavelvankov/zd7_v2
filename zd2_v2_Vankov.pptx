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9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75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0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190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2125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7043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345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28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705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561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33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8395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041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4226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5380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5057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18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28594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19729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282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1013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-5400000">
            <a:off x="8954563" y="3614180"/>
            <a:ext cx="5795457" cy="692183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5" name="TextBox 5"/>
          <p:cNvSpPr txBox="1"/>
          <p:nvPr/>
        </p:nvSpPr>
        <p:spPr>
          <a:xfrm>
            <a:off x="1209890" y="189428"/>
            <a:ext cx="9178659" cy="89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МИНИСТЕРСТВО ОБРАЗОВАНИЯ </a:t>
            </a:r>
            <a:r>
              <a:rPr lang="ru-RU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И МОЛОДЕЖНОЙ ПОЛИТИКИ</a:t>
            </a: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СВЕРДЛОВСКОЙ ОБЛАСТИ</a:t>
            </a:r>
          </a:p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Alegreya Sans SC Black"/>
              </a:rPr>
              <a:t> ГАПОУ СО «ЕКАТЕРИНБУРГСКИЙ КОЛЛЕДЖ ТРАНСПОРТНОГО СТРОИТЕЛЬСТВА»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62543" cy="106254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1209890" y="1767418"/>
            <a:ext cx="10037818" cy="253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49"/>
              </a:lnSpc>
            </a:pPr>
            <a:r>
              <a:rPr lang="ru-RU" sz="5334" b="1" dirty="0"/>
              <a:t>Разработка </a:t>
            </a:r>
            <a:r>
              <a:rPr lang="ru-RU" sz="5334" b="1" dirty="0" err="1"/>
              <a:t>Android</a:t>
            </a:r>
            <a:r>
              <a:rPr lang="ru-RU" sz="5334" b="1" dirty="0"/>
              <a:t>-приложения «Приложение для онлайн-кинотеатра»</a:t>
            </a:r>
            <a:endParaRPr lang="en-US" sz="5334" b="1" spc="-276" dirty="0">
              <a:latin typeface="Trocchi" panose="020B0604020202020204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90583" y="101446"/>
            <a:ext cx="681378" cy="859651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209889" y="5392063"/>
            <a:ext cx="6554119" cy="12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rocchi"/>
              </a:rPr>
              <a:t>Работу</a:t>
            </a:r>
            <a:r>
              <a:rPr lang="en-US" sz="1781" dirty="0">
                <a:solidFill>
                  <a:srgbClr val="FFFFFF"/>
                </a:solidFill>
                <a:latin typeface="Trocchi"/>
              </a:rPr>
              <a:t> </a:t>
            </a:r>
            <a:r>
              <a:rPr lang="en-US" sz="1781" dirty="0" err="1">
                <a:solidFill>
                  <a:srgbClr val="FFFFFF"/>
                </a:solidFill>
                <a:latin typeface="Trocchi"/>
              </a:rPr>
              <a:t>выполнил</a:t>
            </a:r>
            <a:r>
              <a:rPr lang="en-US" sz="1781" dirty="0">
                <a:solidFill>
                  <a:srgbClr val="FFFFFF"/>
                </a:solidFill>
                <a:latin typeface="Trocchi"/>
              </a:rPr>
              <a:t>: </a:t>
            </a:r>
            <a:r>
              <a:rPr lang="ru-RU" sz="1781" dirty="0">
                <a:solidFill>
                  <a:srgbClr val="FFFFFF"/>
                </a:solidFill>
                <a:latin typeface="Trocchi"/>
              </a:rPr>
              <a:t>Ваньков П.Н.</a:t>
            </a:r>
            <a:endParaRPr lang="en-US" sz="1781" dirty="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rocchi"/>
              </a:rPr>
              <a:t>Руководитель</a:t>
            </a:r>
            <a:r>
              <a:rPr lang="en-US" sz="1781" dirty="0">
                <a:solidFill>
                  <a:srgbClr val="FFFFFF"/>
                </a:solidFill>
                <a:latin typeface="Trocchi"/>
              </a:rPr>
              <a:t>: </a:t>
            </a:r>
            <a:r>
              <a:rPr lang="ru-RU" sz="1781" dirty="0">
                <a:solidFill>
                  <a:srgbClr val="FFFFFF"/>
                </a:solidFill>
                <a:latin typeface="Trocchi"/>
              </a:rPr>
              <a:t>Мирошниченко Г.В.</a:t>
            </a:r>
            <a:endParaRPr lang="en-US" sz="1781" dirty="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rocchi"/>
              </a:rPr>
              <a:t>Группа</a:t>
            </a:r>
            <a:r>
              <a:rPr lang="en-US" sz="1781" dirty="0">
                <a:solidFill>
                  <a:srgbClr val="FFFFFF"/>
                </a:solidFill>
                <a:latin typeface="Trocchi"/>
              </a:rPr>
              <a:t>: Пр-3</a:t>
            </a:r>
            <a:r>
              <a:rPr lang="ru-RU" sz="1781" dirty="0">
                <a:solidFill>
                  <a:srgbClr val="FFFFFF"/>
                </a:solidFill>
                <a:latin typeface="Trocchi"/>
              </a:rPr>
              <a:t>2</a:t>
            </a:r>
            <a:endParaRPr lang="en-US" sz="1781" dirty="0">
              <a:solidFill>
                <a:srgbClr val="FFFFFF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endParaRPr sz="1200" dirty="0"/>
          </a:p>
        </p:txBody>
      </p:sp>
      <p:grpSp>
        <p:nvGrpSpPr>
          <p:cNvPr id="11" name="Group 11"/>
          <p:cNvGrpSpPr/>
          <p:nvPr/>
        </p:nvGrpSpPr>
        <p:grpSpPr>
          <a:xfrm>
            <a:off x="0" y="5014789"/>
            <a:ext cx="5027653" cy="299117"/>
            <a:chOff x="0" y="0"/>
            <a:chExt cx="9605948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446304" y="5014789"/>
            <a:ext cx="5027653" cy="299117"/>
            <a:chOff x="0" y="0"/>
            <a:chExt cx="9605948" cy="571500"/>
          </a:xfrm>
        </p:grpSpPr>
        <p:sp>
          <p:nvSpPr>
            <p:cNvPr id="14" name="Freeform 14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разработке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обильное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приложение для выбора фильмов и покупки билетов.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два типа пользователей: клиент и работник (сотрудник).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поиск, просмотр, покупка, список «Мои билеты».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Работник: управление локальным списком фильмов (добавление/редактирование/удаление).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создать Android‑приложение «онлайн‑кинотеатр» 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Задачи: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реализовать вход и регистрацию пользователей;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разделить роли «клиент /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работник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»;</a:t>
            </a:r>
            <a:endParaRPr lang="ru-RU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buSzPct val="100000"/>
              <a:buChar char="•"/>
            </a:pP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сделать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ru-RU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buSzPct val="100000"/>
              <a:buChar char="•"/>
            </a:pP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реализовать покупку билета и сохранение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покупки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ru-RU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buSzPct val="100000"/>
              <a:buChar char="•"/>
            </a:pP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добавить личный кабинет клиента и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работника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характеристики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23" name="Picture 11">
            <a:extLst>
              <a:ext uri="{FF2B5EF4-FFF2-40B4-BE49-F238E27FC236}">
                <a16:creationId xmlns:a16="http://schemas.microsoft.com/office/drawing/2014/main" id="{8E4B4FD1-A432-4F71-B632-F58F45F3883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524346" y="1355819"/>
            <a:ext cx="1476997" cy="1269387"/>
          </a:xfrm>
          <a:prstGeom prst="rect">
            <a:avLst/>
          </a:prstGeom>
        </p:spPr>
      </p:pic>
      <p:pic>
        <p:nvPicPr>
          <p:cNvPr id="24" name="Picture 12">
            <a:extLst>
              <a:ext uri="{FF2B5EF4-FFF2-40B4-BE49-F238E27FC236}">
                <a16:creationId xmlns:a16="http://schemas.microsoft.com/office/drawing/2014/main" id="{13D7B899-A93C-4D34-B9AA-6A5ECDBF52C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592812" y="3019810"/>
            <a:ext cx="1316769" cy="1316769"/>
          </a:xfrm>
          <a:prstGeom prst="rect">
            <a:avLst/>
          </a:prstGeom>
        </p:spPr>
      </p:pic>
      <p:pic>
        <p:nvPicPr>
          <p:cNvPr id="25" name="Picture 13">
            <a:extLst>
              <a:ext uri="{FF2B5EF4-FFF2-40B4-BE49-F238E27FC236}">
                <a16:creationId xmlns:a16="http://schemas.microsoft.com/office/drawing/2014/main" id="{A00666FA-A563-4019-BEA0-0FB5EBA8208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1604460" y="5266614"/>
            <a:ext cx="1305121" cy="988212"/>
          </a:xfrm>
          <a:prstGeom prst="rect">
            <a:avLst/>
          </a:prstGeom>
        </p:spPr>
      </p:pic>
      <p:sp>
        <p:nvSpPr>
          <p:cNvPr id="26" name="TextBox 14">
            <a:extLst>
              <a:ext uri="{FF2B5EF4-FFF2-40B4-BE49-F238E27FC236}">
                <a16:creationId xmlns:a16="http://schemas.microsoft.com/office/drawing/2014/main" id="{78CED187-9636-4861-8336-E24DFF979057}"/>
              </a:ext>
            </a:extLst>
          </p:cNvPr>
          <p:cNvSpPr txBox="1"/>
          <p:nvPr/>
        </p:nvSpPr>
        <p:spPr>
          <a:xfrm>
            <a:off x="3244825" y="1291101"/>
            <a:ext cx="4821413" cy="36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spc="-56">
                <a:solidFill>
                  <a:srgbClr val="1D7151"/>
                </a:solidFill>
                <a:latin typeface="HK Grotesk Medium"/>
              </a:rPr>
              <a:t>ПРИВЛЕКАТЕЛЬНОСТЬ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7BE37F86-B265-4560-B957-1C009C04F792}"/>
              </a:ext>
            </a:extLst>
          </p:cNvPr>
          <p:cNvSpPr txBox="1"/>
          <p:nvPr/>
        </p:nvSpPr>
        <p:spPr>
          <a:xfrm>
            <a:off x="3255352" y="1634051"/>
            <a:ext cx="7016989" cy="64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6"/>
              </a:lnSpc>
            </a:pPr>
            <a:r>
              <a:rPr lang="ru-RU" sz="1883" spc="37" dirty="0">
                <a:solidFill>
                  <a:srgbClr val="17242D"/>
                </a:solidFill>
                <a:latin typeface="HK Grotesk Light"/>
              </a:rPr>
              <a:t>Интерфейс сделан в стиле реальных кино-приложений (ориентир — ГРИНВИЧ СИНЕМА).</a:t>
            </a:r>
            <a:endParaRPr lang="en-US" sz="1883" spc="37" dirty="0">
              <a:solidFill>
                <a:srgbClr val="17242D"/>
              </a:solidFill>
              <a:latin typeface="HK Grotesk Light"/>
            </a:endParaRPr>
          </a:p>
        </p:txBody>
      </p:sp>
      <p:grpSp>
        <p:nvGrpSpPr>
          <p:cNvPr id="28" name="Group 16">
            <a:extLst>
              <a:ext uri="{FF2B5EF4-FFF2-40B4-BE49-F238E27FC236}">
                <a16:creationId xmlns:a16="http://schemas.microsoft.com/office/drawing/2014/main" id="{CF516582-0D66-4528-BAD7-EE0274A2E2F4}"/>
              </a:ext>
            </a:extLst>
          </p:cNvPr>
          <p:cNvGrpSpPr/>
          <p:nvPr/>
        </p:nvGrpSpPr>
        <p:grpSpPr>
          <a:xfrm>
            <a:off x="3244825" y="3019810"/>
            <a:ext cx="5926799" cy="1879638"/>
            <a:chOff x="0" y="66675"/>
            <a:chExt cx="11853599" cy="3759276"/>
          </a:xfrm>
        </p:grpSpPr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F3B066DD-D1DB-4F8B-B094-180AEA3246A7}"/>
                </a:ext>
              </a:extLst>
            </p:cNvPr>
            <p:cNvSpPr txBox="1"/>
            <p:nvPr/>
          </p:nvSpPr>
          <p:spPr>
            <a:xfrm>
              <a:off x="0" y="66675"/>
              <a:ext cx="11853599" cy="7281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800" spc="-56" dirty="0">
                  <a:solidFill>
                    <a:srgbClr val="1D7151"/>
                  </a:solidFill>
                  <a:latin typeface="HK Grotesk Medium"/>
                </a:rPr>
                <a:t>ЛАКОНИЧНОСТЬ И ПРОСТОТА</a:t>
              </a:r>
            </a:p>
          </p:txBody>
        </p:sp>
        <p:sp>
          <p:nvSpPr>
            <p:cNvPr id="30" name="TextBox 18">
              <a:extLst>
                <a:ext uri="{FF2B5EF4-FFF2-40B4-BE49-F238E27FC236}">
                  <a16:creationId xmlns:a16="http://schemas.microsoft.com/office/drawing/2014/main" id="{F087213E-F85B-4C71-A98C-9776B723F449}"/>
                </a:ext>
              </a:extLst>
            </p:cNvPr>
            <p:cNvSpPr txBox="1"/>
            <p:nvPr/>
          </p:nvSpPr>
          <p:spPr>
            <a:xfrm>
              <a:off x="0" y="997485"/>
              <a:ext cx="11853599" cy="2828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ru-RU" sz="2000" spc="40" dirty="0">
                  <a:solidFill>
                    <a:srgbClr val="17242D"/>
                  </a:solidFill>
                  <a:latin typeface="HK Grotesk Light"/>
                </a:rPr>
                <a:t>Интерфейс не перегружен лишней информацией. Все элементы управления расположены логично и интуитивно понятно, что упрощает работу с приложением.</a:t>
              </a:r>
              <a:endParaRPr lang="en-US" sz="2000" spc="40" dirty="0">
                <a:solidFill>
                  <a:srgbClr val="17242D"/>
                </a:solidFill>
                <a:latin typeface="HK Grotesk Light"/>
              </a:endParaRPr>
            </a:p>
          </p:txBody>
        </p:sp>
      </p:grpSp>
      <p:grpSp>
        <p:nvGrpSpPr>
          <p:cNvPr id="31" name="Group 19">
            <a:extLst>
              <a:ext uri="{FF2B5EF4-FFF2-40B4-BE49-F238E27FC236}">
                <a16:creationId xmlns:a16="http://schemas.microsoft.com/office/drawing/2014/main" id="{229CE47C-4711-4F46-B3EA-CB7A2B00AE31}"/>
              </a:ext>
            </a:extLst>
          </p:cNvPr>
          <p:cNvGrpSpPr/>
          <p:nvPr/>
        </p:nvGrpSpPr>
        <p:grpSpPr>
          <a:xfrm>
            <a:off x="3255352" y="5010742"/>
            <a:ext cx="6377119" cy="1518707"/>
            <a:chOff x="0" y="66675"/>
            <a:chExt cx="12754239" cy="3037414"/>
          </a:xfrm>
        </p:grpSpPr>
        <p:sp>
          <p:nvSpPr>
            <p:cNvPr id="32" name="TextBox 20">
              <a:extLst>
                <a:ext uri="{FF2B5EF4-FFF2-40B4-BE49-F238E27FC236}">
                  <a16:creationId xmlns:a16="http://schemas.microsoft.com/office/drawing/2014/main" id="{489327C1-CC93-4B19-A377-B8BE93BD2FCF}"/>
                </a:ext>
              </a:extLst>
            </p:cNvPr>
            <p:cNvSpPr txBox="1"/>
            <p:nvPr/>
          </p:nvSpPr>
          <p:spPr>
            <a:xfrm>
              <a:off x="0" y="66675"/>
              <a:ext cx="12754239" cy="7281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800" spc="-56" dirty="0">
                  <a:solidFill>
                    <a:srgbClr val="1D7151"/>
                  </a:solidFill>
                  <a:latin typeface="HK Grotesk Medium"/>
                </a:rPr>
                <a:t>СИСТЕМАТИЗАЦИЯ</a:t>
              </a:r>
            </a:p>
          </p:txBody>
        </p:sp>
        <p:sp>
          <p:nvSpPr>
            <p:cNvPr id="33" name="TextBox 21">
              <a:extLst>
                <a:ext uri="{FF2B5EF4-FFF2-40B4-BE49-F238E27FC236}">
                  <a16:creationId xmlns:a16="http://schemas.microsoft.com/office/drawing/2014/main" id="{81DAF78B-7B20-47D4-9A9D-CD11BAC267A6}"/>
                </a:ext>
              </a:extLst>
            </p:cNvPr>
            <p:cNvSpPr txBox="1"/>
            <p:nvPr/>
          </p:nvSpPr>
          <p:spPr>
            <a:xfrm>
              <a:off x="0" y="997485"/>
              <a:ext cx="12754239" cy="2106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99"/>
                </a:lnSpc>
              </a:pPr>
              <a:r>
                <a:rPr lang="ru-RU" sz="2000" spc="40" dirty="0">
                  <a:solidFill>
                    <a:srgbClr val="17242D"/>
                  </a:solidFill>
                  <a:latin typeface="HK Grotesk Light"/>
                </a:rPr>
                <a:t>Приложение автоматизирует процессы регистрации, поиска фильмов и покупки билетов, обеспечивая упорядоченное хранение и обработку данных.</a:t>
              </a:r>
              <a:endParaRPr sz="12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 инструменты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972800" cy="23156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— переходы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экранами</a:t>
            </a:r>
            <a:endParaRPr lang="ru-RU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ru-RU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4000" indent="-254000">
              <a:buSzPct val="10000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r>
              <a:rPr lang="ru-RU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для сохранение сессии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— локальная база данных для пользователей, билетов и фильмов.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MotionLayout — </a:t>
            </a:r>
            <a:r>
              <a:rPr lang="ru-RU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карусели фильмов на главном экране.</a:t>
            </a:r>
            <a:endParaRPr lang="en-US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8F16CA-6560-43FD-ACD7-6F64DE782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70157"/>
            <a:ext cx="2555507" cy="2723632"/>
          </a:xfrm>
          <a:prstGeom prst="rect">
            <a:avLst/>
          </a:prstGeom>
        </p:spPr>
      </p:pic>
      <p:sp>
        <p:nvSpPr>
          <p:cNvPr id="7" name="AutoShape 2" descr="Picture background">
            <a:extLst>
              <a:ext uri="{FF2B5EF4-FFF2-40B4-BE49-F238E27FC236}">
                <a16:creationId xmlns:a16="http://schemas.microsoft.com/office/drawing/2014/main" id="{2D390FDF-E88C-4779-A3D5-0F3ABDA41D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Picture background">
            <a:extLst>
              <a:ext uri="{FF2B5EF4-FFF2-40B4-BE49-F238E27FC236}">
                <a16:creationId xmlns:a16="http://schemas.microsoft.com/office/drawing/2014/main" id="{21446A2C-0F6C-4A06-ABAE-A60BE7922F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69280EC-1378-4686-BCA9-7AC5BB22F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1" y="3707649"/>
            <a:ext cx="2743200" cy="27432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8412ECB-731E-4438-BD3E-D3D3999BA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935" y="3961598"/>
            <a:ext cx="3010320" cy="2572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</a:t>
            </a:r>
            <a:r>
              <a:rPr lang="ru-RU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входа и регистрации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985E78-668C-4734-AA69-A63518F5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166" y="1331495"/>
            <a:ext cx="2513676" cy="544417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124D45-7062-4A16-94D7-06BD6FCC9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012" y="1331494"/>
            <a:ext cx="2513676" cy="544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30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Экраны приложения (клиент)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8CE0E0-F436-4237-9940-A65D817D4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188721"/>
            <a:ext cx="2459104" cy="53259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F23EA8-9D25-4F7C-972A-2FAA6CC27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011" y="1188724"/>
            <a:ext cx="2459104" cy="532597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C20FD4F-336D-4671-9DB6-F2718215A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886" y="1188722"/>
            <a:ext cx="2459104" cy="532597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33D37C4-585F-4A0C-9AB6-5C53B7978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777" y="1188724"/>
            <a:ext cx="2459103" cy="53259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Экраны приложения (работник)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B8F19B-6452-4C67-997A-D5C529875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2"/>
            <a:ext cx="2536257" cy="54930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37034B-8502-4FF9-BF56-848F87031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304" y="1188721"/>
            <a:ext cx="2536256" cy="549307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C6B4AC-5295-40FE-89FE-6DB9D694A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443" y="1188724"/>
            <a:ext cx="2536256" cy="54930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6A747E-103E-4C3B-8E10-55E20EDBA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5582" y="1188720"/>
            <a:ext cx="2536257" cy="54930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 и вывод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жанров, улучшить наполнение каталога.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ru-RU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синхронизации данных с сервером для хранения билетов и аккаунтов в облаке.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Улучшить интерфейс и удобство (анимации, </a:t>
            </a:r>
            <a:r>
              <a:rPr lang="en-US" sz="2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
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реализован прототип онлайн‑кинотеатра с ролями и основными функциями.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317</Words>
  <Application>Microsoft Office PowerPoint</Application>
  <PresentationFormat>Широкоэкранный</PresentationFormat>
  <Paragraphs>51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Alegreya Sans SC Black</vt:lpstr>
      <vt:lpstr>Arial</vt:lpstr>
      <vt:lpstr>Calibri</vt:lpstr>
      <vt:lpstr>HK Grotesk Light</vt:lpstr>
      <vt:lpstr>HK Grotesk Medium</vt:lpstr>
      <vt:lpstr>Trebuchet MS</vt:lpstr>
      <vt:lpstr>Trocchi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павел Ваньков</cp:lastModifiedBy>
  <cp:revision>10</cp:revision>
  <dcterms:created xsi:type="dcterms:W3CDTF">2025-12-19T16:32:27Z</dcterms:created>
  <dcterms:modified xsi:type="dcterms:W3CDTF">2025-12-19T18:14:31Z</dcterms:modified>
</cp:coreProperties>
</file>